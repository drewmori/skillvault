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4a936b65aa42c6" /><Relationship Type="http://schemas.openxmlformats.org/officeDocument/2006/relationships/extended-properties" Target="/docProps/app.xml" Id="Rdc0b23121c3d402f" /><Relationship Type="http://schemas.openxmlformats.org/officeDocument/2006/relationships/officeDocument" Target="/ppt/presentation.xml" Id="R160038f7970840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7c4cbff7e240e0"/>
  </p:sldMasterIdLst>
  <p:notesMasterIdLst>
    <p:notesMasterId xmlns:r="http://schemas.openxmlformats.org/officeDocument/2006/relationships" r:id="R84c34b3ecc8b402c"/>
  </p:notesMasterIdLst>
  <p:sldIdLst>
    <p:sldId xmlns:r="http://schemas.openxmlformats.org/officeDocument/2006/relationships" id="256" r:id="R00487f6610b142f8"/>
    <p:sldId xmlns:r="http://schemas.openxmlformats.org/officeDocument/2006/relationships" id="257" r:id="Rd2059dcd366d4a9d"/>
    <p:sldId xmlns:r="http://schemas.openxmlformats.org/officeDocument/2006/relationships" id="258" r:id="Rcb6b9330d853408b"/>
    <p:sldId xmlns:r="http://schemas.openxmlformats.org/officeDocument/2006/relationships" id="259" r:id="R11c93ee37fe247cc"/>
    <p:sldId xmlns:r="http://schemas.openxmlformats.org/officeDocument/2006/relationships" id="260" r:id="R389e1b44917b4ccf"/>
    <p:sldId xmlns:r="http://schemas.openxmlformats.org/officeDocument/2006/relationships" id="261" r:id="R08a55b7785394346"/>
    <p:sldId xmlns:r="http://schemas.openxmlformats.org/officeDocument/2006/relationships" id="262" r:id="R82d5133267be4f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a73adbe5c8424b" /><Relationship Type="http://schemas.openxmlformats.org/officeDocument/2006/relationships/slideMaster" Target="/ppt/slideMasters/slideMaster1.xml" Id="R727c4cbff7e240e0" /><Relationship Type="http://schemas.openxmlformats.org/officeDocument/2006/relationships/notesMaster" Target="/ppt/notesMasters/notesMaster1.xml" Id="R84c34b3ecc8b402c" /><Relationship Type="http://schemas.openxmlformats.org/officeDocument/2006/relationships/presProps" Target="/ppt/presProps.xml" Id="R4dc57e7909284df1" /><Relationship Type="http://schemas.openxmlformats.org/officeDocument/2006/relationships/tableStyles" Target="/ppt/tableStyles.xml" Id="Ra0aa57db2dc34379" /><Relationship Type="http://schemas.openxmlformats.org/officeDocument/2006/relationships/slide" Target="/ppt/slides/slide1.xml" Id="R00487f6610b142f8" /><Relationship Type="http://schemas.openxmlformats.org/officeDocument/2006/relationships/slide" Target="/ppt/slides/slide2.xml" Id="Rd2059dcd366d4a9d" /><Relationship Type="http://schemas.openxmlformats.org/officeDocument/2006/relationships/slide" Target="/ppt/slides/slide3.xml" Id="Rcb6b9330d853408b" /><Relationship Type="http://schemas.openxmlformats.org/officeDocument/2006/relationships/slide" Target="/ppt/slides/slide4.xml" Id="R11c93ee37fe247cc" /><Relationship Type="http://schemas.openxmlformats.org/officeDocument/2006/relationships/slide" Target="/ppt/slides/slide5.xml" Id="R389e1b44917b4ccf" /><Relationship Type="http://schemas.openxmlformats.org/officeDocument/2006/relationships/slide" Target="/ppt/slides/slide6.xml" Id="R08a55b7785394346" /><Relationship Type="http://schemas.openxmlformats.org/officeDocument/2006/relationships/slide" Target="/ppt/slides/slide7.xml" Id="R82d5133267be4f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e5e85a4f4242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a2816d03574d53" /><Relationship Type="http://schemas.openxmlformats.org/officeDocument/2006/relationships/notesMaster" Target="/ppt/notesMasters/notesMaster1.xml" Id="Rcc019c3babef46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1fc711fa0c47c2" /><Relationship Type="http://schemas.openxmlformats.org/officeDocument/2006/relationships/notesMaster" Target="/ppt/notesMasters/notesMaster1.xml" Id="Rca9367363eae4d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7a9c1ed642480f" /><Relationship Type="http://schemas.openxmlformats.org/officeDocument/2006/relationships/notesMaster" Target="/ppt/notesMasters/notesMaster1.xml" Id="R3f18ae1e4ac24f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4dd90dbb4a4b93" /><Relationship Type="http://schemas.openxmlformats.org/officeDocument/2006/relationships/notesMaster" Target="/ppt/notesMasters/notesMaster1.xml" Id="R2f3e05c4435b46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32758fa6254033" /><Relationship Type="http://schemas.openxmlformats.org/officeDocument/2006/relationships/notesMaster" Target="/ppt/notesMasters/notesMaster1.xml" Id="R488ef16c9fa54f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7a94b3fe1d4845" /><Relationship Type="http://schemas.openxmlformats.org/officeDocument/2006/relationships/notesMaster" Target="/ppt/notesMasters/notesMaster1.xml" Id="R6db940fb95d44c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4423f7ebc04474" /><Relationship Type="http://schemas.openxmlformats.org/officeDocument/2006/relationships/notesMaster" Target="/ppt/notesMasters/notesMaster1.xml" Id="R8c60d7283cab4d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Subject: Northstar Cloud investor pitch for a $3M seed round.</a:t>
            </a:r>
          </a:p>
          <a:p xmlns:a="http://schemas.openxmlformats.org/drawingml/2006/main">
            <a:r>
              <a:t>Problem: Leadership needed a concise investor story that connected customer pain, traction, go-to-market, and a specific funding ask.</a:t>
            </a:r>
          </a:p>
          <a:p xmlns:a="http://schemas.openxmlformats.org/drawingml/2006/main">
            <a:r>
              <a:t>Reasoning: We chose an outcome-first narrative because investors needed to understand the business case before technical architecture.</a:t>
            </a:r>
          </a:p>
          <a:p xmlns:a="http://schemas.openxmlformats.org/drawingml/2006/main">
            <a:r>
              <a:t>Outcome: The completed deck became the approved baseline for seed investor meetings.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Open with the operational cost of fragmented workflows.</a:t>
            </a:r>
          </a:p>
          <a:p xmlns:a="http://schemas.openxmlformats.org/drawingml/2006/main">
            <a:r>
              <a:t>2. Connect lost employee knowledge to slower customer outcomes.</a:t>
            </a:r>
          </a:p>
          <a:p xmlns:a="http://schemas.openxmlformats.org/drawingml/2006/main">
            <a:r>
              <a:t>3. Avoid feature details until the audience agrees the handoff problem is expensive.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Reasoning: We chose a four-step workflow because it makes the product easy to understand without exposing implementation details.</a:t>
            </a:r>
          </a:p>
          <a:p xmlns:a="http://schemas.openxmlformats.org/drawingml/2006/main">
            <a:r>
              <a:t>Method: Explain the compounding knowledge loop as the durable advantage, not a generic chatbot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Confirm ARR, customer count, and retention against the finance source before every external meeting.</a:t>
            </a:r>
          </a:p>
          <a:p xmlns:a="http://schemas.openxmlformats.org/drawingml/2006/main">
            <a:r>
              <a:t>2. If any metric is not verified, label it as preliminary or remove it.</a:t>
            </a:r>
          </a:p>
          <a:p xmlns:a="http://schemas.openxmlformats.org/drawingml/2006/main">
            <a:r>
              <a:t>3. Lead with expansion evidence because it supports the land-and-expand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Reasoning: We chose the support-operations wedge because it has urgent pain, measurable resolution times, and clear expansion paths.</a:t>
            </a:r>
          </a:p>
          <a:p xmlns:a="http://schemas.openxmlformats.org/drawingml/2006/main">
            <a:r>
              <a:t>Method: Pair the ARR trend with a leading operating metric instead of adding a crowded market-size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State the raise amount before discussing allocation.</a:t>
            </a:r>
          </a:p>
          <a:p xmlns:a="http://schemas.openxmlformats.org/drawingml/2006/main">
            <a:r>
              <a:t>2. Tie every spending category to a measurable 18-month milestone.</a:t>
            </a:r>
          </a:p>
          <a:p xmlns:a="http://schemas.openxmlformats.org/drawingml/2006/main">
            <a:r>
              <a:t>3. Do not promise certifications or reliability levels as completed until evidence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Outcome: The approved presentation closes with one memorable company advantage and repeats the exact funding ask.</a:t>
            </a:r>
          </a:p>
          <a:p xmlns:a="http://schemas.openxmlformats.org/drawingml/2006/main">
            <a:r>
              <a:t>Follow-up: Log investor questions after each meeting and revise only claims that can be supported by verified company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8838624e94b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48efb3a74640b2" /><Relationship Type="http://schemas.openxmlformats.org/officeDocument/2006/relationships/slideLayout" Target="/ppt/slideLayouts/slideLayout1.xml" Id="R0dc766ffa1434c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c766ffa1434c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9dc0c0085473e" /><Relationship Type="http://schemas.openxmlformats.org/officeDocument/2006/relationships/notesSlide" Target="/ppt/notesSlides/notesSlide1.xml" Id="R518b4e53a9b546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272b2cb7541cb" /><Relationship Type="http://schemas.openxmlformats.org/officeDocument/2006/relationships/notesSlide" Target="/ppt/notesSlides/notesSlide2.xml" Id="R85f1449439cb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ed6c793354be3" /><Relationship Type="http://schemas.openxmlformats.org/officeDocument/2006/relationships/notesSlide" Target="/ppt/notesSlides/notesSlide3.xml" Id="R01876f1d6f6141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ed4c3c47c4824" /><Relationship Type="http://schemas.openxmlformats.org/officeDocument/2006/relationships/notesSlide" Target="/ppt/notesSlides/notesSlide4.xml" Id="Ra5f3cac96ae44f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4195dce444c77" /><Relationship Type="http://schemas.openxmlformats.org/officeDocument/2006/relationships/chart" Target="/ppt/slides/charts/chart1.xml" Id="R5e34fbcf58ec4e8b" /><Relationship Type="http://schemas.openxmlformats.org/officeDocument/2006/relationships/notesSlide" Target="/ppt/notesSlides/notesSlide5.xml" Id="R02d113fbf1a148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0bb68ee9d478b" /><Relationship Type="http://schemas.openxmlformats.org/officeDocument/2006/relationships/notesSlide" Target="/ppt/notesSlides/notesSlide6.xml" Id="R45d0d10feee140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a86603d4348a1" /><Relationship Type="http://schemas.openxmlformats.org/officeDocument/2006/relationships/notesSlide" Target="/ppt/notesSlides/notesSlide7.xml" Id="Rc4e504e76a1c460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ARR</c:v>
          </c:tx>
          <c:spPr>
            <a:solidFill xmlns:a="http://schemas.openxmlformats.org/drawingml/2006/main">
              <a:srgbClr val="155EEF"/>
            </a:solidFill>
            <a:ln xmlns:a="http://schemas.openxmlformats.org/drawingml/2006/main" w="38100">
              <a:solidFill>
                <a:srgbClr val="155EEF"/>
              </a:solidFill>
            </a:ln>
          </c:spPr>
          <c:marker>
            <c:symbol val="none"/>
          </c:marker>
          <c:cat>
            <c:numLit>
              <c:formatCode>General</c:formatCode>
              <c:ptCount val="4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2026</c:v>
              </c:pt>
            </c:numLit>
          </c:cat>
          <c:val>
            <c:numLit>
              <c:formatCode>General</c:formatCode>
              <c:ptCount val="4"/>
              <c:pt idx="0">
                <c:v>0.4</c:v>
              </c:pt>
              <c:pt idx="1">
                <c:v>0.9</c:v>
              </c:pt>
              <c:pt idx="2">
                <c:v>1.5</c:v>
              </c:pt>
              <c:pt idx="3">
                <c:v>2.4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A6F0F-6203-4927-A8B0-EB295044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CFF"/>
                </a:solidFill>
              </a:defRPr>
            </a:pPr>
            <a:r>
              <a:rPr sz="900" b="1">
                <a:solidFill>
                  <a:srgbClr val="B9CCFF"/>
                </a:solidFill>
              </a:rPr>
              <a:t>NORTHSTAR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04989-BB1F-4E96-9D1F-CDA764EE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8A2B3"/>
                </a:solidFill>
              </a:defRPr>
            </a:pPr>
            <a:r>
              <a:rPr sz="825" b="1">
                <a:solidFill>
                  <a:srgbClr val="98A2B3"/>
                </a:solidFill>
              </a:rPr>
              <a:t>SEED INVESTOR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BCB71-D065-4513-AA72-4AD2DB8E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3FB1D-525A-4A9A-A2E0-1A12226F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  <a:r>
              <a:rPr sz="750">
                <a:solidFill>
                  <a:srgbClr val="667085"/>
                </a:solidFill>
              </a:rPr>
              <a:t>Illustrative fictional company data for SkillVault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BD14B-75E5-45DF-A26A-02FBCBF8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1430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881C9-DB2A-47E2-8143-E19621F0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66800"/>
            <a:ext cx="6572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Northstar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Cloud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0A1CF-E21D-4F51-A054-E26858F5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0D5DD"/>
                </a:solidFill>
              </a:defRPr>
            </a:pPr>
            <a:r>
              <a:rPr sz="2250">
                <a:solidFill>
                  <a:srgbClr val="D0D5DD"/>
                </a:solidFill>
              </a:rPr>
              <a:t>One operating layer for reliable customer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919FC-2BB3-44B4-99A6-D166A01C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90650"/>
            <a:ext cx="2571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82230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70EC2-7B6C-4120-B101-C01FF83B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669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$3M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273FE-EB2C-46E1-9E0D-D528D8F7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CCFF"/>
                </a:solidFill>
              </a:defRPr>
            </a:pPr>
            <a:r>
              <a:rPr sz="975" b="1">
                <a:solidFill>
                  <a:srgbClr val="B9CCFF"/>
                </a:solidFill>
              </a:rPr>
              <a:t>SEED ROUND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A1979-548F-4668-B7A1-5B3700A1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86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0D5DD"/>
                </a:solidFill>
              </a:defRPr>
            </a:pPr>
            <a:r>
              <a:rPr sz="1425">
                <a:solidFill>
                  <a:srgbClr val="D0D5DD"/>
                </a:solidFill>
              </a:rPr>
              <a:t>18-month path to</a:t>
            </a:r>
          </a:p>
          <a:p xmlns:a="http://schemas.openxmlformats.org/drawingml/2006/main">
            <a:pPr>
              <a:defRPr sz="1425">
                <a:solidFill>
                  <a:srgbClr val="D0D5DD"/>
                </a:solidFill>
              </a:defRPr>
            </a:pPr>
            <a:r>
              <a:rPr sz="1425">
                <a:solidFill>
                  <a:srgbClr val="D0D5DD"/>
                </a:solidFill>
              </a:rPr>
              <a:t>$6M ARR</a:t>
            </a:r>
          </a:p>
        </p:txBody>
      </p:sp>
    </p:spTree>
    <p:extLst>
      <p:ext uri="{BB962C8B-B14F-4D97-AF65-F5344CB8AC3E}">
        <p14:creationId xmlns:p14="http://schemas.microsoft.com/office/powerpoint/2010/main" val="444314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4157D-C052-409B-B152-F0AE52D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NORTHSTAR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287F3-9C9A-481A-81D0-CBE45A26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8A2B3"/>
                </a:solidFill>
              </a:defRPr>
            </a:pPr>
            <a:r>
              <a:rPr sz="825" b="1">
                <a:solidFill>
                  <a:srgbClr val="98A2B3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2A4AE-8808-45A3-8C3D-AEBBDF6F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8A2B3"/>
                </a:solidFill>
              </a:defRPr>
            </a:pPr>
            <a:r>
              <a:rPr sz="825" b="1">
                <a:solidFill>
                  <a:srgbClr val="98A2B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64DB5-78D8-4DBC-BABE-EB436D1D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8A2B3"/>
                </a:solidFill>
              </a:defRPr>
            </a:pPr>
            <a:r>
              <a:rPr sz="750">
                <a:solidFill>
                  <a:srgbClr val="98A2B3"/>
                </a:solidFill>
              </a:rPr>
              <a:t>Illustrative fictional company data for SkillVault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FA444-2648-4994-912C-735E1349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</a:defRPr>
            </a:pPr>
            <a:r>
              <a:rPr sz="3225" b="1">
                <a:solidFill>
                  <a:srgbClr val="101828"/>
                </a:solidFill>
              </a:rPr>
              <a:t>Customer operations break at the handoffs.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E9D06-1217-4AD9-A270-7372F96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085"/>
                </a:solidFill>
              </a:defRPr>
            </a:pPr>
            <a:r>
              <a:rPr sz="1575">
                <a:solidFill>
                  <a:srgbClr val="667085"/>
                </a:solidFill>
              </a:rPr>
              <a:t>Growing B2B software teams use separate systems for support, incident response, reporting, and customer communication.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B5FB1-E72C-4A4C-AB5B-3D6297B2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32956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30E35-876B-4581-B70B-54E0FF52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0E161-578A-42E2-BEC1-658F5EF0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Signals are scattered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7F11F-ACE4-46BB-BDC7-ED786290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Logs, tickets, dashboards, and account context live in different tools.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63022-E126-47F6-BBE4-AA4FBA0E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32956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5D573-B01D-4228-8EC6-C9CA852F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03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2D35F-E05A-48A3-9A7C-C1837BA2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Judgment stays tribal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CA99A-BA88-4300-8E9E-E8B6BD9B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Senior employees know the workarounds, escalation points, and customer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074C5-478E-4C81-A400-608505C0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90800"/>
            <a:ext cx="32956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8E38E-E753-4AA8-900F-BE86F641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3F955-EEBB-49B8-8478-2332AAD1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Customers feel the delay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187D3-1B3D-4A1E-B339-321DBEA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148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Slow diagnosis creates longer incidents, uneven updates, and renewal risk.</a:t>
            </a:r>
          </a:p>
        </p:txBody>
      </p:sp>
    </p:spTree>
    <p:extLst>
      <p:ext uri="{BB962C8B-B14F-4D97-AF65-F5344CB8AC3E}">
        <p14:creationId xmlns:p14="http://schemas.microsoft.com/office/powerpoint/2010/main" val="1175866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1B184-9365-4F6D-9B07-86858A5C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NORTHSTAR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3E459-621E-4A49-8910-B1EC3356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8A2B3"/>
                </a:solidFill>
              </a:defRPr>
            </a:pPr>
            <a:r>
              <a:rPr sz="825" b="1">
                <a:solidFill>
                  <a:srgbClr val="98A2B3"/>
                </a:solidFill>
              </a:rPr>
              <a:t>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3E4B8-3D6D-4A80-97AF-9CA19408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8A2B3"/>
                </a:solidFill>
              </a:defRPr>
            </a:pPr>
            <a:r>
              <a:rPr sz="825" b="1">
                <a:solidFill>
                  <a:srgbClr val="98A2B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E2A94-A552-47D1-8BAA-F8834FB8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8A2B3"/>
                </a:solidFill>
              </a:defRPr>
            </a:pPr>
            <a:r>
              <a:rPr sz="750">
                <a:solidFill>
                  <a:srgbClr val="98A2B3"/>
                </a:solidFill>
              </a:rPr>
              <a:t>Illustrative fictional company data for SkillVault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C6159-D3FE-493A-A6CF-90724AFB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</a:defRPr>
            </a:pPr>
            <a:r>
              <a:rPr sz="3225" b="1">
                <a:solidFill>
                  <a:srgbClr val="101828"/>
                </a:solidFill>
              </a:rPr>
              <a:t>One workflow from signal to resolution.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27049-2238-4399-B1BE-43A82D1A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085"/>
                </a:solidFill>
              </a:defRPr>
            </a:pPr>
            <a:r>
              <a:rPr sz="1575">
                <a:solidFill>
                  <a:srgbClr val="667085"/>
                </a:solidFill>
              </a:rPr>
              <a:t>Northstar Cloud unifies context, recommends the next safe action, and records what worked for the next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D1E74-C96A-44EC-B9BD-8AC8A99A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238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BD260-7164-4F89-9CC3-4D891974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1D74B-84E0-4172-90EB-1FDE32E2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248B4-A041-4714-979A-7B038FBD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3842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Connect support tickets, logs, account history, and completed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24F12-40E3-4D1C-A6E1-F16A6375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5238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E6852-3C6B-4525-9B66-F32295C6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326DF-C478-4EEE-8E8E-65A6BB5E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Prioritize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974CF-1F5C-4577-AD3C-FDB7E805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Rank business impact, customer risk, and required escalation.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26D10-BB6B-4071-ADB5-E9D78650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5238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11FBA-FAF7-408D-AB9B-E256DF43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885A2-51DA-4B28-8B1D-79299274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Resolve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AEEFB-CB1F-48D8-BD01-6358673B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0052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Guide the operator with evidence-linked steps and verified safeguards.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2CDB2-00D7-4D3E-B9F7-C60213E3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5238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A55D1-500F-4BC0-A7B1-B5B88390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036C8-0F3F-4402-85A4-FB40044C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Retain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5E6C7-C49B-4BE6-8C3C-FBC6F051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815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Save the approved decision so the next employee starts with company memory.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52AEF-2060-4FBC-8A60-B0B2C772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ACA14-5B55-4483-81F3-9482CBC5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CFF"/>
                </a:solidFill>
              </a:defRPr>
            </a:pPr>
            <a:r>
              <a:rPr sz="900" b="1">
                <a:solidFill>
                  <a:srgbClr val="B9CCFF"/>
                </a:solidFill>
              </a:rPr>
              <a:t>THE COMPOUNDING 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990D7-D8A5-49F9-9C08-9DF6D3FC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2628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Every resolved case makes the next case faster.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70A8A-A376-4D2C-A983-A7C2B368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D5DD"/>
                </a:solidFill>
              </a:defRPr>
            </a:pPr>
            <a:r>
              <a:rPr sz="1200">
                <a:solidFill>
                  <a:srgbClr val="D0D5DD"/>
                </a:solidFill>
              </a:rPr>
              <a:t>Evidence → action → approval → reusable company memory</a:t>
            </a:r>
          </a:p>
        </p:txBody>
      </p:sp>
    </p:spTree>
    <p:extLst>
      <p:ext uri="{BB962C8B-B14F-4D97-AF65-F5344CB8AC3E}">
        <p14:creationId xmlns:p14="http://schemas.microsoft.com/office/powerpoint/2010/main" val="12416074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F6706-8639-418A-9DB9-97B6C390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NORTHSTAR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82009-3F6A-4DF6-8C9A-2B05BE87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8A2B3"/>
                </a:solidFill>
              </a:defRPr>
            </a:pPr>
            <a:r>
              <a:rPr sz="825" b="1">
                <a:solidFill>
                  <a:srgbClr val="98A2B3"/>
                </a:solidFill>
              </a:rPr>
              <a:t>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C5F12-3B3B-421A-AE51-F9C15F0A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8A2B3"/>
                </a:solidFill>
              </a:defRPr>
            </a:pPr>
            <a:r>
              <a:rPr sz="825" b="1">
                <a:solidFill>
                  <a:srgbClr val="98A2B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3D129-CF9F-48AF-A594-C9F7B61D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8A2B3"/>
                </a:solidFill>
              </a:defRPr>
            </a:pPr>
            <a:r>
              <a:rPr sz="750">
                <a:solidFill>
                  <a:srgbClr val="98A2B3"/>
                </a:solidFill>
              </a:rPr>
              <a:t>Illustrative fictional company data for SkillVault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25A3A-429E-4442-8CB3-E7E129A3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</a:defRPr>
            </a:pPr>
            <a:r>
              <a:rPr sz="3225" b="1">
                <a:solidFill>
                  <a:srgbClr val="101828"/>
                </a:solidFill>
              </a:rPr>
              <a:t>Early traction shows durable expansion.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EDCF8-116D-40D6-B89B-4493EEC0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Illustrative internal operating metrics as of Q2 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3E101-ECC4-4B41-B230-884AFA10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3333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E63E4-C983-4C2A-AA29-613811C6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4DA82-3D3F-42B9-BBCE-39BC8CC7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ANNUAL RECURRING REVENUE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8DC30-30E1-407F-A2E4-372158C8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$2.4M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F0511-5D1F-49B8-8AD8-FF4179F1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+61% year over year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E828B-D02B-4E50-B5EE-8FB049A8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19350"/>
            <a:ext cx="3333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ABD38-F26A-4A27-8AA3-3011ECB7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A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EEB6D-2D27-4834-9C41-16FFB67F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194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NET REVENUE RETENTION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35CFA-74E4-426B-BA3F-D5AC73F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623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116%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2B7F3-84D5-4CD0-9A28-9DAC0693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719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Expansion led by workflow adoption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8C1DE-E43E-4C5A-9A9A-CB577EC4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3333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80BEA-D788-4617-887F-B4E5EC28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06E0C-AB51-4C61-8C7F-82E6AB6E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PAYING CUSTOMERS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FA3E5-0A53-4A1E-81C5-2D13487F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128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683F8-EA19-4EF9-883C-37D493D4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719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Mid-market B2B software teams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3F2BA-D470-4CE7-925E-C908AEF1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10490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0F66A-56C7-422E-A522-18A836DD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5EEF"/>
                </a:solidFill>
              </a:defRPr>
            </a:pPr>
            <a:r>
              <a:rPr sz="1125" b="1">
                <a:solidFill>
                  <a:srgbClr val="155EEF"/>
                </a:solidFill>
              </a:rPr>
              <a:t>Investor takeaway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55BA88-454E-44A2-950C-51F676A4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14875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Retention improves when customers adopt both support operations and decision memory workflows.</a:t>
            </a:r>
          </a:p>
        </p:txBody>
      </p:sp>
    </p:spTree>
    <p:extLst>
      <p:ext uri="{BB962C8B-B14F-4D97-AF65-F5344CB8AC3E}">
        <p14:creationId xmlns:p14="http://schemas.microsoft.com/office/powerpoint/2010/main" val="10568973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6836A-26E6-41DE-B5F9-4360372F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NORTHSTAR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8F2B3-28F7-4C6C-8942-23C35E55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8A2B3"/>
                </a:solidFill>
              </a:defRPr>
            </a:pPr>
            <a:r>
              <a:rPr sz="825" b="1">
                <a:solidFill>
                  <a:srgbClr val="98A2B3"/>
                </a:solidFill>
              </a:rPr>
              <a:t>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46529-F0F2-4C3F-8E74-A8B977CD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8A2B3"/>
                </a:solidFill>
              </a:defRPr>
            </a:pPr>
            <a:r>
              <a:rPr sz="825" b="1">
                <a:solidFill>
                  <a:srgbClr val="98A2B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0BD8B-1287-49EE-841C-16C56ED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8A2B3"/>
                </a:solidFill>
              </a:defRPr>
            </a:pPr>
            <a:r>
              <a:rPr sz="750">
                <a:solidFill>
                  <a:srgbClr val="98A2B3"/>
                </a:solidFill>
              </a:rPr>
              <a:t>Illustrative fictional company data for SkillVault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934BA-167F-49F2-9055-5319E0BE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</a:defRPr>
            </a:pPr>
            <a:r>
              <a:rPr sz="3225" b="1">
                <a:solidFill>
                  <a:srgbClr val="101828"/>
                </a:solidFill>
              </a:rPr>
              <a:t>A focused wedge is creating repeatable growth.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CBABC-FD73-4BB9-80AB-387929F3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Illustrative ARR progression ($M)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9E0DA-60A0-4059-AFBD-11FD311F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7096125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933450" y="2428875"/>
          <a:ext xmlns:a="http://schemas.openxmlformats.org/drawingml/2006/main" cx="6334125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34fbcf58ec4e8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A4347-8AF3-48A5-92E2-B6D61BFD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65D68-C058-4E14-9C4B-C0BEE871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A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76B26-912A-477F-95D1-0E709CE1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SALES 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2F098-CB0D-46BB-8287-0BE66F52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384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54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7E26A-C7CF-4053-B064-C7C58EA5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Down from 81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C0284-EF6C-474C-972E-28D88EF5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95CC9-F5E7-451E-99DE-D8A68E94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815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CFF"/>
                </a:solidFill>
              </a:defRPr>
            </a:pPr>
            <a:r>
              <a:rPr sz="900" b="1">
                <a:solidFill>
                  <a:srgbClr val="B9CCFF"/>
                </a:solidFill>
              </a:rPr>
              <a:t>LAND + EXPAND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14F18-44E7-4364-9892-59BE7D49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863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Start in support. Expand into incident and reporting workflows.</a:t>
            </a:r>
          </a:p>
        </p:txBody>
      </p:sp>
    </p:spTree>
    <p:extLst>
      <p:ext uri="{BB962C8B-B14F-4D97-AF65-F5344CB8AC3E}">
        <p14:creationId xmlns:p14="http://schemas.microsoft.com/office/powerpoint/2010/main" val="716397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EBD1DA-6E45-4972-A78B-F42C15E4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EEF"/>
                </a:solidFill>
              </a:defRPr>
            </a:pPr>
            <a:r>
              <a:rPr sz="900" b="1">
                <a:solidFill>
                  <a:srgbClr val="155EEF"/>
                </a:solidFill>
              </a:rPr>
              <a:t>NORTHSTAR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D4A33-0914-4C34-B6CD-A1F494D8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8A2B3"/>
                </a:solidFill>
              </a:defRPr>
            </a:pPr>
            <a:r>
              <a:rPr sz="825" b="1">
                <a:solidFill>
                  <a:srgbClr val="98A2B3"/>
                </a:solidFill>
              </a:rPr>
              <a:t>THE RAISE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B333E-C3D1-48D0-ADCF-9847770B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8A2B3"/>
                </a:solidFill>
              </a:defRPr>
            </a:pPr>
            <a:r>
              <a:rPr sz="825" b="1">
                <a:solidFill>
                  <a:srgbClr val="98A2B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C76E7-A273-4111-813E-9B2BAB14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8A2B3"/>
                </a:solidFill>
              </a:defRPr>
            </a:pPr>
            <a:r>
              <a:rPr sz="750">
                <a:solidFill>
                  <a:srgbClr val="98A2B3"/>
                </a:solidFill>
              </a:rPr>
              <a:t>Illustrative fictional company data for SkillVault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A09CD-B56F-471D-B130-C14D6E34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01828"/>
                </a:solidFill>
              </a:defRPr>
            </a:pPr>
            <a:r>
              <a:rPr sz="3075" b="1">
                <a:solidFill>
                  <a:srgbClr val="101828"/>
                </a:solidFill>
              </a:rPr>
              <a:t>$3M to turn product pull into a repeatable growth engine.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6636F-4731-4EEA-976C-2217BD21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18-month use of funds and measurable milestones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AAE71-1A1E-497A-A602-9764F973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00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5EEF"/>
                </a:solidFill>
              </a:defRPr>
            </a:pPr>
            <a:r>
              <a:rPr sz="2250" b="1">
                <a:solidFill>
                  <a:srgbClr val="155EEF"/>
                </a:solidFill>
              </a:rPr>
              <a:t>45%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0E304-5044-4149-BC12-E63C18AA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43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Product +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63B9C-011C-4F00-9AEA-E72327FE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Enterprise controls, integrations, and 99.95% service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E8092-032E-46C9-9217-5D10A673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3905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6F1D7-3ACA-4B96-977C-0B729ECC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175736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B2D65-93EC-4410-B463-CE12AC07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100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AED4"/>
                </a:solidFill>
              </a:defRPr>
            </a:pPr>
            <a:r>
              <a:rPr sz="2250" b="1">
                <a:solidFill>
                  <a:srgbClr val="06AED4"/>
                </a:solidFill>
              </a:rPr>
              <a:t>35%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A6A34-1B3A-4E2F-A4A3-AE9199F5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09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Go-to-market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B2FBA-5A6F-4A12-AC14-3F7A0C0B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Two focused sales pods and partner-enabled 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50872-A3DC-418B-8970-F00A1E62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3905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99BEF-1F2A-418B-A958-766E8D64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366838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A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0A68F-38BC-4835-BAF2-EFAF3EB0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00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B76A"/>
                </a:solidFill>
              </a:defRPr>
            </a:pPr>
            <a:r>
              <a:rPr sz="2250" b="1">
                <a:solidFill>
                  <a:srgbClr val="12B76A"/>
                </a:solidFill>
              </a:rPr>
              <a:t>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9D323-3A88-4646-B49C-613494AF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Customer success +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C51A3-FF52-4D68-B132-8CEF6DA2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815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Faster onboarding, SOC 2 readiness, and renewal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FAF4E-4C51-45C9-8531-BA037F8C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0"/>
            <a:ext cx="3905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D3337-347C-48FE-81A8-5FE061F8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0"/>
            <a:ext cx="7810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EC3278-2EDF-41DD-9C51-666D317D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668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A9868-0CED-4AE9-A5B9-7E4345E6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5EEF"/>
                </a:solidFill>
              </a:defRPr>
            </a:pPr>
            <a:r>
              <a:rPr sz="1275" b="1">
                <a:solidFill>
                  <a:srgbClr val="155EEF"/>
                </a:solidFill>
              </a:rPr>
              <a:t>Milestone: $6M ARR • 180 customers • enterprise-ready security and reliability</a:t>
            </a:r>
          </a:p>
        </p:txBody>
      </p:sp>
    </p:spTree>
    <p:extLst>
      <p:ext uri="{BB962C8B-B14F-4D97-AF65-F5344CB8AC3E}">
        <p14:creationId xmlns:p14="http://schemas.microsoft.com/office/powerpoint/2010/main" val="8707815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8027E-1CAB-45A8-AB04-C6D2E032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CFF"/>
                </a:solidFill>
              </a:defRPr>
            </a:pPr>
            <a:r>
              <a:rPr sz="900" b="1">
                <a:solidFill>
                  <a:srgbClr val="B9CCFF"/>
                </a:solidFill>
              </a:rPr>
              <a:t>NORTHSTAR CLOUD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D12D6-1A54-48AA-88D8-342D0172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8A2B3"/>
                </a:solidFill>
              </a:defRPr>
            </a:pPr>
            <a:r>
              <a:rPr sz="825" b="1">
                <a:solidFill>
                  <a:srgbClr val="98A2B3"/>
                </a:solidFill>
              </a:rPr>
              <a:t>CLOSING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0D817-4728-4837-B581-B8D55DBF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1D59B-2824-4AED-B895-1D3CAFDB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</a:defRPr>
            </a:pPr>
            <a:r>
              <a:rPr sz="750">
                <a:solidFill>
                  <a:srgbClr val="667085"/>
                </a:solidFill>
              </a:rPr>
              <a:t>Illustrative fictional company data for SkillVault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991E3-98E1-4486-9A2D-C0BF6AE5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Turn every hard-won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customer decision into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a company advantage.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6EA58-FE05-435F-B0C2-F72B87F2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1550F-FCBA-475B-810F-5FF04A7F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0D5DD"/>
                </a:solidFill>
              </a:defRPr>
            </a:pPr>
            <a:r>
              <a:rPr sz="1650">
                <a:solidFill>
                  <a:srgbClr val="D0D5DD"/>
                </a:solidFill>
              </a:rPr>
              <a:t>$3M seed • 18-month operating plan • Northstar 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152B2-44DD-4AAF-975F-8840082B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8A2B3"/>
                </a:solidFill>
              </a:defRPr>
            </a:pPr>
            <a:r>
              <a:rPr sz="825" b="1">
                <a:solidFill>
                  <a:srgbClr val="98A2B3"/>
                </a:solidFill>
              </a:rPr>
              <a:t>DEMO CONTACT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27CBD-3AC4-4238-A18D-7400DABC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CFF"/>
                </a:solidFill>
              </a:defRPr>
            </a:pPr>
            <a:r>
              <a:rPr sz="1350">
                <a:solidFill>
                  <a:srgbClr val="B9CCFF"/>
                </a:solidFill>
              </a:rPr>
              <a:t>founders@northstar-cloud.example</a:t>
            </a:r>
          </a:p>
        </p:txBody>
      </p:sp>
    </p:spTree>
    <p:extLst>
      <p:ext uri="{BB962C8B-B14F-4D97-AF65-F5344CB8AC3E}">
        <p14:creationId xmlns:p14="http://schemas.microsoft.com/office/powerpoint/2010/main" val="705363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2026-08-13T19:02:24.2130000Z</dcterms:created>
  <dcterms:modified xsi:type="dcterms:W3CDTF">2026-08-13T19:02:24.2140000Z</dcterms:modified>
</coreProperties>
</file>