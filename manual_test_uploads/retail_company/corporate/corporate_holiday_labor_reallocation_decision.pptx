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0f873ccf3e4730" /><Relationship Type="http://schemas.openxmlformats.org/officeDocument/2006/relationships/extended-properties" Target="/docProps/app.xml" Id="Rd8ab585e25074994" /><Relationship Type="http://schemas.openxmlformats.org/officeDocument/2006/relationships/officeDocument" Target="/ppt/presentation.xml" Id="Ra8eef5cc6598421f" /></Relationships>
</file>

<file path=ppt/presentation.xml><?xml version="1.0" encoding="utf-8"?>
<p:presentation xmlns:p="http://schemas.openxmlformats.org/presentationml/2006/main">
  <p:sldMasterIdLst>
    <p:sldMasterId xmlns:r="http://schemas.openxmlformats.org/officeDocument/2006/relationships" id="2147483648" r:id="R7df61495e79b4d90"/>
  </p:sldMasterIdLst>
  <p:notesMasterIdLst>
    <p:notesMasterId xmlns:r="http://schemas.openxmlformats.org/officeDocument/2006/relationships" r:id="R433c42efe0ab4929"/>
  </p:notesMasterIdLst>
  <p:sldIdLst>
    <p:sldId xmlns:r="http://schemas.openxmlformats.org/officeDocument/2006/relationships" id="256" r:id="R61aacadbf5924027"/>
    <p:sldId xmlns:r="http://schemas.openxmlformats.org/officeDocument/2006/relationships" id="257" r:id="R5fa09677da0f4259"/>
    <p:sldId xmlns:r="http://schemas.openxmlformats.org/officeDocument/2006/relationships" id="258" r:id="Rca0ebc6c85f44b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ed9c7c702494e" /><Relationship Type="http://schemas.openxmlformats.org/officeDocument/2006/relationships/slideMaster" Target="/ppt/slideMasters/slideMaster1.xml" Id="R7df61495e79b4d90" /><Relationship Type="http://schemas.openxmlformats.org/officeDocument/2006/relationships/notesMaster" Target="/ppt/notesMasters/notesMaster1.xml" Id="R433c42efe0ab4929" /><Relationship Type="http://schemas.openxmlformats.org/officeDocument/2006/relationships/presProps" Target="/ppt/presProps.xml" Id="R9ddd987355e34c02" /><Relationship Type="http://schemas.openxmlformats.org/officeDocument/2006/relationships/tableStyles" Target="/ppt/tableStyles.xml" Id="R16ca30f407eb4f29" /><Relationship Type="http://schemas.openxmlformats.org/officeDocument/2006/relationships/slide" Target="/ppt/slides/slide1.xml" Id="R61aacadbf5924027" /><Relationship Type="http://schemas.openxmlformats.org/officeDocument/2006/relationships/slide" Target="/ppt/slides/slide2.xml" Id="R5fa09677da0f4259" /><Relationship Type="http://schemas.openxmlformats.org/officeDocument/2006/relationships/slide" Target="/ppt/slides/slide3.xml" Id="Rca0ebc6c85f44b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7047eaf0c447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259b1fa7c74adf" /><Relationship Type="http://schemas.openxmlformats.org/officeDocument/2006/relationships/notesMaster" Target="/ppt/notesMasters/notesMaster1.xml" Id="Rb51fa60109ef4c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26eb4ed2f74953" /><Relationship Type="http://schemas.openxmlformats.org/officeDocument/2006/relationships/notesMaster" Target="/ppt/notesMasters/notesMaster1.xml" Id="Rb2bfbaf962c944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6e4d8a40a94dfc" /><Relationship Type="http://schemas.openxmlformats.org/officeDocument/2006/relationships/notesMaster" Target="/ppt/notesMasters/notesMaster1.xml" Id="R8187b17c380540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Subject: Corporate holiday labor reallocation decision for Cedar &amp; Finch Retail.</a:t>
            </a:r>
          </a:p>
          <a:p xmlns:a="http://schemas.openxmlformats.org/drawingml/2006/main">
            <a:r>
              <a:t>Situation: Twelve pilot stores were understaffed during Friday evening and Saturday peaks while Tuesday and Wednesday mornings consistently carried unused labor coverage.</a:t>
            </a:r>
          </a:p>
          <a:p xmlns:a="http://schemas.openxmlformats.org/drawingml/2006/main">
            <a:r>
              <a:t>Decision: Build in small steps by moving 96 weekly labor hours into peak windows across the pilot stores without adding payroll.</a:t>
            </a:r>
          </a:p>
          <a:p xmlns:a="http://schemas.openxmlformats.org/drawingml/2006/main">
            <a:r>
              <a:t>Reasoning: We chose a four-week pilot because traffic data supported a schedule shift, but store-level conversion and service impact still needed verification before a chain-wide rollout.</a:t>
            </a:r>
          </a:p>
          <a:p xmlns:a="http://schemas.openxmlformats.org/drawingml/2006/main">
            <a:r>
              <a:t>Outcome: The pilot improved peak fitting-room coverage and checkout wait times while weekly payroll stayed within budget.</a:t>
            </a:r>
          </a:p>
          <a:p xmlns:a="http://schemas.openxmlformats.org/drawingml/2006/main">
            <a:r>
              <a:t>[Sources]</a:t>
            </a:r>
          </a:p>
          <a:p xmlns:a="http://schemas.openxmlformats.org/drawingml/2006/main">
            <a:r>
              <a:t>- Fictional Cedar &amp; Finch internal planning data created for SkillVault testing.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Reasoning: Finance rejected adding net-new holiday hours until stores demonstrated that existing coverage had first been aligned to observed demand.</a:t>
            </a:r>
          </a:p>
          <a:p xmlns:a="http://schemas.openxmlformats.org/drawingml/2006/main">
            <a:r>
              <a:t>Method: Compare hourly door counts, transactions, conversion, queue observations, and scheduled hours by daypart.</a:t>
            </a:r>
          </a:p>
          <a:p xmlns:a="http://schemas.openxmlformats.org/drawingml/2006/main">
            <a:r>
              <a:t>Guardrail: Never reduce opening coverage below two trained employees or remove required meal and break coverage.</a:t>
            </a:r>
          </a:p>
          <a:p xmlns:a="http://schemas.openxmlformats.org/drawingml/2006/main">
            <a:r>
              <a:t>[Sources]</a:t>
            </a:r>
          </a:p>
          <a:p xmlns:a="http://schemas.openxmlformats.org/drawingml/2006/main">
            <a:r>
              <a:t>- Fictional Cedar &amp; Finch internal planning data created for SkillVault testing.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Export hourly door counts, transactions, conversion, and scheduled labor for the previous eight weeks.</a:t>
            </a:r>
          </a:p>
          <a:p xmlns:a="http://schemas.openxmlformats.org/drawingml/2006/main">
            <a:r>
              <a:t>2. Identify repeated peak windows and low-demand windows; exclude holidays, weather closures, and one-off events.</a:t>
            </a:r>
          </a:p>
          <a:p xmlns:a="http://schemas.openxmlformats.org/drawingml/2006/main">
            <a:r>
              <a:t>3. Draft each pilot schedule without exceeding its approved weekly payroll hours or minimum safe opening coverage.</a:t>
            </a:r>
          </a:p>
          <a:p xmlns:a="http://schemas.openxmlformats.org/drawingml/2006/main">
            <a:r>
              <a:t>4. During the pilot, record checkout wait time, fitting-room coverage, conversion, employee call-outs, and customer complaints.</a:t>
            </a:r>
          </a:p>
          <a:p xmlns:a="http://schemas.openxmlformats.org/drawingml/2006/main">
            <a:r>
              <a:t>5. At week four, compare pilot results with baseline and request finance plus field-operations approval before expanding.</a:t>
            </a:r>
          </a:p>
          <a:p xmlns:a="http://schemas.openxmlformats.org/drawingml/2006/main">
            <a:r>
              <a:t>Outcome: Average peak checkout wait fell from 7.4 to 4.9 minutes, pilot conversion increased 1.6 percentage points, and payroll remained within budget.</a:t>
            </a:r>
          </a:p>
          <a:p xmlns:a="http://schemas.openxmlformats.org/drawingml/2006/main">
            <a:r>
              <a:t>[Sources]</a:t>
            </a:r>
          </a:p>
          <a:p xmlns:a="http://schemas.openxmlformats.org/drawingml/2006/main">
            <a:r>
              <a:t>- Fictional Cedar &amp; Finch internal planning data created for SkillVault testing.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ad5aaaae8b45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0c77ab90374464" /><Relationship Type="http://schemas.openxmlformats.org/officeDocument/2006/relationships/slideLayout" Target="/ppt/slideLayouts/slideLayout1.xml" Id="R2fde476fb54d41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de476fb54d41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0a35042f2a43e6" /><Relationship Type="http://schemas.openxmlformats.org/officeDocument/2006/relationships/notesSlide" Target="/ppt/notesSlides/notesSlide1.xml" Id="Rb2efa80e1b4142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7b33da0a66476f" /><Relationship Type="http://schemas.openxmlformats.org/officeDocument/2006/relationships/notesSlide" Target="/ppt/notesSlides/notesSlide2.xml" Id="R162d677fafe94f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185ef190c846b0" /><Relationship Type="http://schemas.openxmlformats.org/officeDocument/2006/relationships/notesSlide" Target="/ppt/notesSlides/notesSlide3.xml" Id="R149e2fa33bf548f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9347B-5BEF-4997-9CFB-BC844FC5D1E1}"/>
              </a:ext>
            </a:extLst>
          </p:cNvPr>
          <p:cNvSpPr>
            <a:spLocks xmlns:a="http://schemas.openxmlformats.org/drawingml/2006/main" noGrp="1"/>
          </p:cNvSpPr>
          <p:nvPr/>
        </p:nvSpPr>
        <p:spPr>
          <a:xfrm xmlns:a="http://schemas.openxmlformats.org/drawingml/2006/main">
            <a:off x="400050" y="40005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defRPr>
            </a:pPr>
            <a:r>
              <a:rPr sz="1800" b="1">
                <a:solidFill>
                  <a:srgbClr val="3D8DFF"/>
                </a:solidFill>
              </a:rPr>
              <a:t>CORPORATE DECISION RECORD · 2026 HOLIDAY PLAN</a:t>
            </a:r>
          </a:p>
        </p:txBody>
      </p:sp>
      <p:sp>
        <p:nvSpPr>
          <p:cNvPr id="2" name="">
            <a:extLst xmlns:a="http://schemas.openxmlformats.org/drawingml/2006/main">
              <a:ext uri="{FF2B5EF4-FFF2-40B4-BE49-F238E27FC236}">
                <a16:creationId xmlns:a16="http://schemas.microsoft.com/office/drawing/2014/main" id="{BF5A7330-5A64-499F-8125-EFD5C176745B}"/>
              </a:ext>
            </a:extLst>
          </p:cNvPr>
          <p:cNvSpPr>
            <a:spLocks xmlns:a="http://schemas.openxmlformats.org/drawingml/2006/main" noGrp="1"/>
          </p:cNvSpPr>
          <p:nvPr/>
        </p:nvSpPr>
        <p:spPr>
          <a:xfrm xmlns:a="http://schemas.openxmlformats.org/drawingml/2006/main">
            <a:off x="400050" y="1695450"/>
            <a:ext cx="10001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defRPr sz="5700" b="1">
                <a:solidFill>
                  <a:srgbClr val="000000"/>
                </a:solidFill>
              </a:defRPr>
            </a:pPr>
            <a:r>
              <a:rPr sz="5700" b="1">
                <a:solidFill>
                  <a:srgbClr val="000000"/>
                </a:solidFill>
              </a:rPr>
              <a:t>Move labor to the hours customers actually shop</a:t>
            </a:r>
          </a:p>
        </p:txBody>
      </p:sp>
      <p:sp>
        <p:nvSpPr>
          <p:cNvPr id="3" name="">
            <a:extLst xmlns:a="http://schemas.openxmlformats.org/drawingml/2006/main">
              <a:ext uri="{FF2B5EF4-FFF2-40B4-BE49-F238E27FC236}">
                <a16:creationId xmlns:a16="http://schemas.microsoft.com/office/drawing/2014/main" id="{2DE64136-D593-49A1-8F57-1F8441CC7ECB}"/>
              </a:ext>
            </a:extLst>
          </p:cNvPr>
          <p:cNvSpPr>
            <a:spLocks xmlns:a="http://schemas.openxmlformats.org/drawingml/2006/main" noGrp="1"/>
          </p:cNvSpPr>
          <p:nvPr/>
        </p:nvSpPr>
        <p:spPr>
          <a:xfrm xmlns:a="http://schemas.openxmlformats.org/drawingml/2006/main">
            <a:off x="400050" y="4762500"/>
            <a:ext cx="7715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a:solidFill>
                  <a:srgbClr val="000000"/>
                </a:solidFill>
              </a:defRPr>
            </a:pPr>
            <a:r>
              <a:rPr sz="2250">
                <a:solidFill>
                  <a:srgbClr val="000000"/>
                </a:solidFill>
              </a:rPr>
              <a:t>Approved reallocation across 12 pilot stores without increasing total payroll</a:t>
            </a:r>
          </a:p>
        </p:txBody>
      </p:sp>
      <p:sp>
        <p:nvSpPr>
          <p:cNvPr id="4" name="">
            <a:extLst xmlns:a="http://schemas.openxmlformats.org/drawingml/2006/main">
              <a:ext uri="{FF2B5EF4-FFF2-40B4-BE49-F238E27FC236}">
                <a16:creationId xmlns:a16="http://schemas.microsoft.com/office/drawing/2014/main" id="{6F1A223B-C788-4FA9-8174-624B4FF2DE20}"/>
              </a:ext>
            </a:extLst>
          </p:cNvPr>
          <p:cNvSpPr>
            <a:spLocks xmlns:a="http://schemas.openxmlformats.org/drawingml/2006/main" noGrp="1"/>
          </p:cNvSpPr>
          <p:nvPr/>
        </p:nvSpPr>
        <p:spPr>
          <a:xfrm xmlns:a="http://schemas.openxmlformats.org/drawingml/2006/main">
            <a:off x="400050" y="63055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67085"/>
                </a:solidFill>
              </a:defRPr>
            </a:pPr>
            <a:r>
              <a:rPr sz="900">
                <a:solidFill>
                  <a:srgbClr val="667085"/>
                </a:solidFill>
              </a:rPr>
              <a:t>CEDAR &amp; FINCH RETAIL · CORPORATE OPERATIONS</a:t>
            </a:r>
          </a:p>
        </p:txBody>
      </p:sp>
      <p:sp>
        <p:nvSpPr>
          <p:cNvPr id="5" name="">
            <a:extLst xmlns:a="http://schemas.openxmlformats.org/drawingml/2006/main">
              <a:ext uri="{FF2B5EF4-FFF2-40B4-BE49-F238E27FC236}">
                <a16:creationId xmlns:a16="http://schemas.microsoft.com/office/drawing/2014/main" id="{0E8B4946-3911-49E4-9D8D-38440211F9DF}"/>
              </a:ext>
            </a:extLst>
          </p:cNvPr>
          <p:cNvSpPr>
            <a:spLocks xmlns:a="http://schemas.openxmlformats.org/drawingml/2006/main" noGrp="1"/>
          </p:cNvSpPr>
          <p:nvPr/>
        </p:nvSpPr>
        <p:spPr>
          <a:xfrm xmlns:a="http://schemas.openxmlformats.org/drawingml/2006/main">
            <a:off x="11277600" y="63055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67085"/>
                </a:solidFill>
              </a:defRPr>
            </a:pPr>
            <a:r>
              <a:rPr sz="900">
                <a:solidFill>
                  <a:srgbClr val="667085"/>
                </a:solidFill>
              </a:rPr>
              <a:t>1</a:t>
            </a:r>
          </a:p>
        </p:txBody>
      </p:sp>
    </p:spTree>
    <p:extLst>
      <p:ext uri="{BB962C8B-B14F-4D97-AF65-F5344CB8AC3E}">
        <p14:creationId xmlns:p14="http://schemas.microsoft.com/office/powerpoint/2010/main" val="7893242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252C3C-013F-4F2A-943C-2414120CFD1C}"/>
              </a:ext>
            </a:extLst>
          </p:cNvPr>
          <p:cNvSpPr>
            <a:spLocks xmlns:a="http://schemas.openxmlformats.org/drawingml/2006/main" noGrp="1"/>
          </p:cNvSpPr>
          <p:nvPr/>
        </p:nvSpPr>
        <p:spPr>
          <a:xfrm xmlns:a="http://schemas.openxmlformats.org/drawingml/2006/main">
            <a:off x="400050" y="32385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600" b="1">
                <a:solidFill>
                  <a:srgbClr val="000000"/>
                </a:solidFill>
              </a:defRPr>
            </a:pPr>
            <a:r>
              <a:rPr sz="3600" b="1">
                <a:solidFill>
                  <a:srgbClr val="000000"/>
                </a:solidFill>
              </a:rPr>
              <a:t>Traffic—not payroll—was the constraint</a:t>
            </a:r>
          </a:p>
        </p:txBody>
      </p:sp>
      <p:sp>
        <p:nvSpPr>
          <p:cNvPr id="2" name="">
            <a:extLst xmlns:a="http://schemas.openxmlformats.org/drawingml/2006/main">
              <a:ext uri="{FF2B5EF4-FFF2-40B4-BE49-F238E27FC236}">
                <a16:creationId xmlns:a16="http://schemas.microsoft.com/office/drawing/2014/main" id="{3ACB751D-71B6-4CF1-9DDE-F9C32A8C877F}"/>
              </a:ext>
            </a:extLst>
          </p:cNvPr>
          <p:cNvSpPr>
            <a:spLocks xmlns:a="http://schemas.openxmlformats.org/drawingml/2006/main" noGrp="1"/>
          </p:cNvSpPr>
          <p:nvPr/>
        </p:nvSpPr>
        <p:spPr>
          <a:xfrm xmlns:a="http://schemas.openxmlformats.org/drawingml/2006/main">
            <a:off x="400050" y="1200150"/>
            <a:ext cx="1104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a:solidFill>
                  <a:srgbClr val="000000"/>
                </a:solidFill>
              </a:defRPr>
            </a:pPr>
            <a:r>
              <a:rPr sz="1725">
                <a:solidFill>
                  <a:srgbClr val="000000"/>
                </a:solidFill>
              </a:rPr>
              <a:t>Four weeks of hourly traffic, conversion, and queue observations showed that the same labor budget could cover demand more effectively if schedules moved with customer traffic.</a:t>
            </a:r>
          </a:p>
        </p:txBody>
      </p:sp>
      <p:sp>
        <p:nvSpPr>
          <p:cNvPr id="3" name="">
            <a:extLst xmlns:a="http://schemas.openxmlformats.org/drawingml/2006/main">
              <a:ext uri="{FF2B5EF4-FFF2-40B4-BE49-F238E27FC236}">
                <a16:creationId xmlns:a16="http://schemas.microsoft.com/office/drawing/2014/main" id="{18C0435E-EC8F-479F-82DE-11AD34C9C910}"/>
              </a:ext>
            </a:extLst>
          </p:cNvPr>
          <p:cNvSpPr>
            <a:spLocks xmlns:a="http://schemas.openxmlformats.org/drawingml/2006/main" noGrp="1"/>
          </p:cNvSpPr>
          <p:nvPr/>
        </p:nvSpPr>
        <p:spPr>
          <a:xfrm xmlns:a="http://schemas.openxmlformats.org/drawingml/2006/main">
            <a:off x="400050" y="3009900"/>
            <a:ext cx="3562350" cy="2971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612556D-FB59-46A2-BFEB-16940A83C35F}"/>
              </a:ext>
            </a:extLst>
          </p:cNvPr>
          <p:cNvSpPr>
            <a:spLocks xmlns:a="http://schemas.openxmlformats.org/drawingml/2006/main" noGrp="1"/>
          </p:cNvSpPr>
          <p:nvPr/>
        </p:nvSpPr>
        <p:spPr>
          <a:xfrm xmlns:a="http://schemas.openxmlformats.org/drawingml/2006/main">
            <a:off x="685800" y="348615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defRPr sz="3900" b="1">
                <a:solidFill>
                  <a:srgbClr val="000000"/>
                </a:solidFill>
              </a:defRPr>
            </a:pPr>
            <a:r>
              <a:rPr sz="3900" b="1">
                <a:solidFill>
                  <a:srgbClr val="000000"/>
                </a:solidFill>
              </a:rPr>
              <a:t>+18%</a:t>
            </a:r>
          </a:p>
        </p:txBody>
      </p:sp>
      <p:sp>
        <p:nvSpPr>
          <p:cNvPr id="5" name="">
            <a:extLst xmlns:a="http://schemas.openxmlformats.org/drawingml/2006/main">
              <a:ext uri="{FF2B5EF4-FFF2-40B4-BE49-F238E27FC236}">
                <a16:creationId xmlns:a16="http://schemas.microsoft.com/office/drawing/2014/main" id="{3129AD44-411F-4B90-BF12-2D23298D73AD}"/>
              </a:ext>
            </a:extLst>
          </p:cNvPr>
          <p:cNvSpPr>
            <a:spLocks xmlns:a="http://schemas.openxmlformats.org/drawingml/2006/main" noGrp="1"/>
          </p:cNvSpPr>
          <p:nvPr/>
        </p:nvSpPr>
        <p:spPr>
          <a:xfrm xmlns:a="http://schemas.openxmlformats.org/drawingml/2006/main">
            <a:off x="685800" y="48196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Friday 4–8 p.m. traffic versus the prior eight-week average</a:t>
            </a:r>
          </a:p>
        </p:txBody>
      </p:sp>
      <p:sp>
        <p:nvSpPr>
          <p:cNvPr id="6" name="">
            <a:extLst xmlns:a="http://schemas.openxmlformats.org/drawingml/2006/main">
              <a:ext uri="{FF2B5EF4-FFF2-40B4-BE49-F238E27FC236}">
                <a16:creationId xmlns:a16="http://schemas.microsoft.com/office/drawing/2014/main" id="{5383155D-1F9F-404F-B836-BDB3BFC36419}"/>
              </a:ext>
            </a:extLst>
          </p:cNvPr>
          <p:cNvSpPr>
            <a:spLocks xmlns:a="http://schemas.openxmlformats.org/drawingml/2006/main" noGrp="1"/>
          </p:cNvSpPr>
          <p:nvPr/>
        </p:nvSpPr>
        <p:spPr>
          <a:xfrm xmlns:a="http://schemas.openxmlformats.org/drawingml/2006/main">
            <a:off x="4314825" y="3009900"/>
            <a:ext cx="3562350" cy="29718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186E2F3-4A90-4737-A45A-E121346E3E6E}"/>
              </a:ext>
            </a:extLst>
          </p:cNvPr>
          <p:cNvSpPr>
            <a:spLocks xmlns:a="http://schemas.openxmlformats.org/drawingml/2006/main" noGrp="1"/>
          </p:cNvSpPr>
          <p:nvPr/>
        </p:nvSpPr>
        <p:spPr>
          <a:xfrm xmlns:a="http://schemas.openxmlformats.org/drawingml/2006/main">
            <a:off x="4600575" y="348615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defRPr sz="3900" b="1">
                <a:solidFill>
                  <a:srgbClr val="000000"/>
                </a:solidFill>
              </a:defRPr>
            </a:pPr>
            <a:r>
              <a:rPr sz="3900" b="1">
                <a:solidFill>
                  <a:srgbClr val="000000"/>
                </a:solidFill>
              </a:rPr>
              <a:t>-7%</a:t>
            </a:r>
          </a:p>
        </p:txBody>
      </p:sp>
      <p:sp>
        <p:nvSpPr>
          <p:cNvPr id="8" name="">
            <a:extLst xmlns:a="http://schemas.openxmlformats.org/drawingml/2006/main">
              <a:ext uri="{FF2B5EF4-FFF2-40B4-BE49-F238E27FC236}">
                <a16:creationId xmlns:a16="http://schemas.microsoft.com/office/drawing/2014/main" id="{D377F9EB-EDC6-4994-8A53-A60768B31D2D}"/>
              </a:ext>
            </a:extLst>
          </p:cNvPr>
          <p:cNvSpPr>
            <a:spLocks xmlns:a="http://schemas.openxmlformats.org/drawingml/2006/main" noGrp="1"/>
          </p:cNvSpPr>
          <p:nvPr/>
        </p:nvSpPr>
        <p:spPr>
          <a:xfrm xmlns:a="http://schemas.openxmlformats.org/drawingml/2006/main">
            <a:off x="4600575" y="48196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Tuesday–Wednesday 9 a.m.–noon traffic versus plan</a:t>
            </a:r>
          </a:p>
        </p:txBody>
      </p:sp>
      <p:sp>
        <p:nvSpPr>
          <p:cNvPr id="9" name="">
            <a:extLst xmlns:a="http://schemas.openxmlformats.org/drawingml/2006/main">
              <a:ext uri="{FF2B5EF4-FFF2-40B4-BE49-F238E27FC236}">
                <a16:creationId xmlns:a16="http://schemas.microsoft.com/office/drawing/2014/main" id="{B69D65F9-A70C-4E7A-A7BB-8709C3A7BB1E}"/>
              </a:ext>
            </a:extLst>
          </p:cNvPr>
          <p:cNvSpPr>
            <a:spLocks xmlns:a="http://schemas.openxmlformats.org/drawingml/2006/main" noGrp="1"/>
          </p:cNvSpPr>
          <p:nvPr/>
        </p:nvSpPr>
        <p:spPr>
          <a:xfrm xmlns:a="http://schemas.openxmlformats.org/drawingml/2006/main">
            <a:off x="8229600" y="3009900"/>
            <a:ext cx="3562350" cy="2971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CD2BAC-8381-42BD-94C1-6AD0E3E70E35}"/>
              </a:ext>
            </a:extLst>
          </p:cNvPr>
          <p:cNvSpPr>
            <a:spLocks xmlns:a="http://schemas.openxmlformats.org/drawingml/2006/main" noGrp="1"/>
          </p:cNvSpPr>
          <p:nvPr/>
        </p:nvSpPr>
        <p:spPr>
          <a:xfrm xmlns:a="http://schemas.openxmlformats.org/drawingml/2006/main">
            <a:off x="8515350" y="348615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defRPr sz="3900" b="1">
                <a:solidFill>
                  <a:srgbClr val="000000"/>
                </a:solidFill>
              </a:defRPr>
            </a:pPr>
            <a:r>
              <a:rPr sz="3900" b="1">
                <a:solidFill>
                  <a:srgbClr val="000000"/>
                </a:solidFill>
              </a:rPr>
              <a:t>96 hrs</a:t>
            </a:r>
          </a:p>
        </p:txBody>
      </p:sp>
      <p:sp>
        <p:nvSpPr>
          <p:cNvPr id="11" name="">
            <a:extLst xmlns:a="http://schemas.openxmlformats.org/drawingml/2006/main">
              <a:ext uri="{FF2B5EF4-FFF2-40B4-BE49-F238E27FC236}">
                <a16:creationId xmlns:a16="http://schemas.microsoft.com/office/drawing/2014/main" id="{471BA9EE-4FA5-4EBB-A6EA-E9C033331DB5}"/>
              </a:ext>
            </a:extLst>
          </p:cNvPr>
          <p:cNvSpPr>
            <a:spLocks xmlns:a="http://schemas.openxmlformats.org/drawingml/2006/main" noGrp="1"/>
          </p:cNvSpPr>
          <p:nvPr/>
        </p:nvSpPr>
        <p:spPr>
          <a:xfrm xmlns:a="http://schemas.openxmlformats.org/drawingml/2006/main">
            <a:off x="8515350" y="48196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Weekly hours approved for reallocation across 12 stores</a:t>
            </a:r>
          </a:p>
        </p:txBody>
      </p:sp>
      <p:sp>
        <p:nvSpPr>
          <p:cNvPr id="12" name="">
            <a:extLst xmlns:a="http://schemas.openxmlformats.org/drawingml/2006/main">
              <a:ext uri="{FF2B5EF4-FFF2-40B4-BE49-F238E27FC236}">
                <a16:creationId xmlns:a16="http://schemas.microsoft.com/office/drawing/2014/main" id="{F9BACCBA-13A9-4721-A629-28D53332F19F}"/>
              </a:ext>
            </a:extLst>
          </p:cNvPr>
          <p:cNvSpPr>
            <a:spLocks xmlns:a="http://schemas.openxmlformats.org/drawingml/2006/main" noGrp="1"/>
          </p:cNvSpPr>
          <p:nvPr/>
        </p:nvSpPr>
        <p:spPr>
          <a:xfrm xmlns:a="http://schemas.openxmlformats.org/drawingml/2006/main">
            <a:off x="400050" y="63055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67085"/>
                </a:solidFill>
              </a:defRPr>
            </a:pPr>
            <a:r>
              <a:rPr sz="900">
                <a:solidFill>
                  <a:srgbClr val="667085"/>
                </a:solidFill>
              </a:rPr>
              <a:t>CEDAR &amp; FINCH RETAIL · CORPORATE OPERATIONS</a:t>
            </a:r>
          </a:p>
        </p:txBody>
      </p:sp>
      <p:sp>
        <p:nvSpPr>
          <p:cNvPr id="13" name="">
            <a:extLst xmlns:a="http://schemas.openxmlformats.org/drawingml/2006/main">
              <a:ext uri="{FF2B5EF4-FFF2-40B4-BE49-F238E27FC236}">
                <a16:creationId xmlns:a16="http://schemas.microsoft.com/office/drawing/2014/main" id="{1BB7E4FF-CBC3-4C34-BD28-12DE065F8B7B}"/>
              </a:ext>
            </a:extLst>
          </p:cNvPr>
          <p:cNvSpPr>
            <a:spLocks xmlns:a="http://schemas.openxmlformats.org/drawingml/2006/main" noGrp="1"/>
          </p:cNvSpPr>
          <p:nvPr/>
        </p:nvSpPr>
        <p:spPr>
          <a:xfrm xmlns:a="http://schemas.openxmlformats.org/drawingml/2006/main">
            <a:off x="11277600" y="63055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67085"/>
                </a:solidFill>
              </a:defRPr>
            </a:pPr>
            <a:r>
              <a:rPr sz="900">
                <a:solidFill>
                  <a:srgbClr val="667085"/>
                </a:solidFill>
              </a:rPr>
              <a:t>2</a:t>
            </a:r>
          </a:p>
        </p:txBody>
      </p:sp>
    </p:spTree>
    <p:extLst>
      <p:ext uri="{BB962C8B-B14F-4D97-AF65-F5344CB8AC3E}">
        <p14:creationId xmlns:p14="http://schemas.microsoft.com/office/powerpoint/2010/main" val="15136546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CFEE6AE-D76D-4BCA-A842-085C2F72DD43}"/>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600" b="1">
                <a:solidFill>
                  <a:srgbClr val="000000"/>
                </a:solidFill>
              </a:defRPr>
            </a:pPr>
            <a:r>
              <a:rPr sz="3600" b="1">
                <a:solidFill>
                  <a:srgbClr val="000000"/>
                </a:solidFill>
              </a:rPr>
              <a:t>The approved pilot changed schedules—not headcount</a:t>
            </a:r>
          </a:p>
        </p:txBody>
      </p:sp>
      <p:sp>
        <p:nvSpPr>
          <p:cNvPr id="2" name="">
            <a:extLst xmlns:a="http://schemas.openxmlformats.org/drawingml/2006/main">
              <a:ext uri="{FF2B5EF4-FFF2-40B4-BE49-F238E27FC236}">
                <a16:creationId xmlns:a16="http://schemas.microsoft.com/office/drawing/2014/main" id="{F77B112F-CC73-4885-8EB3-DA472308E686}"/>
              </a:ext>
            </a:extLst>
          </p:cNvPr>
          <p:cNvSpPr>
            <a:spLocks xmlns:a="http://schemas.openxmlformats.org/drawingml/2006/main" noGrp="1"/>
          </p:cNvSpPr>
          <p:nvPr/>
        </p:nvSpPr>
        <p:spPr>
          <a:xfrm xmlns:a="http://schemas.openxmlformats.org/drawingml/2006/main">
            <a:off x="400050" y="167640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b="1">
                <a:solidFill>
                  <a:srgbClr val="3D8DFF"/>
                </a:solidFill>
              </a:defRPr>
            </a:pPr>
            <a:r>
              <a:rPr sz="2250" b="1">
                <a:solidFill>
                  <a:srgbClr val="3D8DFF"/>
                </a:solidFill>
              </a:rPr>
              <a:t>Decision: Build in small steps</a:t>
            </a:r>
          </a:p>
        </p:txBody>
      </p:sp>
      <p:sp>
        <p:nvSpPr>
          <p:cNvPr id="3" name="">
            <a:extLst xmlns:a="http://schemas.openxmlformats.org/drawingml/2006/main">
              <a:ext uri="{FF2B5EF4-FFF2-40B4-BE49-F238E27FC236}">
                <a16:creationId xmlns:a16="http://schemas.microsoft.com/office/drawing/2014/main" id="{DDCDBD54-5CFE-4812-92B1-F26ADB08BC23}"/>
              </a:ext>
            </a:extLst>
          </p:cNvPr>
          <p:cNvSpPr>
            <a:spLocks xmlns:a="http://schemas.openxmlformats.org/drawingml/2006/main" noGrp="1"/>
          </p:cNvSpPr>
          <p:nvPr/>
        </p:nvSpPr>
        <p:spPr>
          <a:xfrm xmlns:a="http://schemas.openxmlformats.org/drawingml/2006/main">
            <a:off x="400050" y="2724150"/>
            <a:ext cx="55245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000000"/>
                </a:solidFill>
              </a:defRPr>
            </a:pPr>
            <a:r>
              <a:rPr sz="1650">
                <a:solidFill>
                  <a:srgbClr val="000000"/>
                </a:solidFill>
              </a:rPr>
              <a:t>Reallocate 96 hours per week from low-traffic weekday mornings to Friday evening and Saturday peaks in 12 pilot stores. Store managers could move hours only within the approved weekly budget and minimum opening coverage. Corporate operations reviewed results after four weeks before expanding the change.</a:t>
            </a:r>
          </a:p>
        </p:txBody>
      </p:sp>
      <p:sp>
        <p:nvSpPr>
          <p:cNvPr id="4" name="">
            <a:extLst xmlns:a="http://schemas.openxmlformats.org/drawingml/2006/main">
              <a:ext uri="{FF2B5EF4-FFF2-40B4-BE49-F238E27FC236}">
                <a16:creationId xmlns:a16="http://schemas.microsoft.com/office/drawing/2014/main" id="{77DF3350-03C7-4DE4-BB1B-3A105F3A45D7}"/>
              </a:ext>
            </a:extLst>
          </p:cNvPr>
          <p:cNvSpPr>
            <a:spLocks xmlns:a="http://schemas.openxmlformats.org/drawingml/2006/main" noGrp="1"/>
          </p:cNvSpPr>
          <p:nvPr/>
        </p:nvSpPr>
        <p:spPr>
          <a:xfrm xmlns:a="http://schemas.openxmlformats.org/drawingml/2006/main">
            <a:off x="7239000" y="2733675"/>
            <a:ext cx="266700" cy="266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7FC90C-96DF-4535-9CEC-DB042F110C4E}"/>
              </a:ext>
            </a:extLst>
          </p:cNvPr>
          <p:cNvSpPr>
            <a:spLocks xmlns:a="http://schemas.openxmlformats.org/drawingml/2006/main" noGrp="1"/>
          </p:cNvSpPr>
          <p:nvPr/>
        </p:nvSpPr>
        <p:spPr>
          <a:xfrm xmlns:a="http://schemas.openxmlformats.org/drawingml/2006/main">
            <a:off x="7239000" y="27146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FFFF"/>
                </a:solidFill>
              </a:defRPr>
            </a:pPr>
            <a:r>
              <a:rPr sz="1350" b="1">
                <a:solidFill>
                  <a:srgbClr val="FFFFFF"/>
                </a:solidFill>
              </a:rPr>
              <a:t>✓</a:t>
            </a:r>
          </a:p>
        </p:txBody>
      </p:sp>
      <p:sp>
        <p:nvSpPr>
          <p:cNvPr id="6" name="">
            <a:extLst xmlns:a="http://schemas.openxmlformats.org/drawingml/2006/main">
              <a:ext uri="{FF2B5EF4-FFF2-40B4-BE49-F238E27FC236}">
                <a16:creationId xmlns:a16="http://schemas.microsoft.com/office/drawing/2014/main" id="{FAD4C708-67A4-4BEF-92D2-AB85B103859D}"/>
              </a:ext>
            </a:extLst>
          </p:cNvPr>
          <p:cNvSpPr>
            <a:spLocks xmlns:a="http://schemas.openxmlformats.org/drawingml/2006/main" noGrp="1"/>
          </p:cNvSpPr>
          <p:nvPr/>
        </p:nvSpPr>
        <p:spPr>
          <a:xfrm xmlns:a="http://schemas.openxmlformats.org/drawingml/2006/main">
            <a:off x="7715250" y="26670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Export eight weeks of traffic and transactions</a:t>
            </a:r>
          </a:p>
        </p:txBody>
      </p:sp>
      <p:sp>
        <p:nvSpPr>
          <p:cNvPr id="7" name="">
            <a:extLst xmlns:a="http://schemas.openxmlformats.org/drawingml/2006/main">
              <a:ext uri="{FF2B5EF4-FFF2-40B4-BE49-F238E27FC236}">
                <a16:creationId xmlns:a16="http://schemas.microsoft.com/office/drawing/2014/main" id="{4315AB4D-60C0-48C0-AFDF-2775CB6B6292}"/>
              </a:ext>
            </a:extLst>
          </p:cNvPr>
          <p:cNvSpPr>
            <a:spLocks xmlns:a="http://schemas.openxmlformats.org/drawingml/2006/main" noGrp="1"/>
          </p:cNvSpPr>
          <p:nvPr/>
        </p:nvSpPr>
        <p:spPr>
          <a:xfrm xmlns:a="http://schemas.openxmlformats.org/drawingml/2006/main">
            <a:off x="7239000" y="3362325"/>
            <a:ext cx="266700" cy="266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09F87D-59C6-41AB-B248-AF42164C6BEF}"/>
              </a:ext>
            </a:extLst>
          </p:cNvPr>
          <p:cNvSpPr>
            <a:spLocks xmlns:a="http://schemas.openxmlformats.org/drawingml/2006/main" noGrp="1"/>
          </p:cNvSpPr>
          <p:nvPr/>
        </p:nvSpPr>
        <p:spPr>
          <a:xfrm xmlns:a="http://schemas.openxmlformats.org/drawingml/2006/main">
            <a:off x="7239000" y="3343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FFFF"/>
                </a:solidFill>
              </a:defRPr>
            </a:pPr>
            <a:r>
              <a:rPr sz="1350" b="1">
                <a:solidFill>
                  <a:srgbClr val="FFFFFF"/>
                </a:solidFill>
              </a:rPr>
              <a:t>✓</a:t>
            </a:r>
          </a:p>
        </p:txBody>
      </p:sp>
      <p:sp>
        <p:nvSpPr>
          <p:cNvPr id="9" name="">
            <a:extLst xmlns:a="http://schemas.openxmlformats.org/drawingml/2006/main">
              <a:ext uri="{FF2B5EF4-FFF2-40B4-BE49-F238E27FC236}">
                <a16:creationId xmlns:a16="http://schemas.microsoft.com/office/drawing/2014/main" id="{1767A7C4-4BF8-46B2-A9C1-4EC8E50BE490}"/>
              </a:ext>
            </a:extLst>
          </p:cNvPr>
          <p:cNvSpPr>
            <a:spLocks xmlns:a="http://schemas.openxmlformats.org/drawingml/2006/main" noGrp="1"/>
          </p:cNvSpPr>
          <p:nvPr/>
        </p:nvSpPr>
        <p:spPr>
          <a:xfrm xmlns:a="http://schemas.openxmlformats.org/drawingml/2006/main">
            <a:off x="7715250" y="32956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Mark understaffed and overstaffed dayparts</a:t>
            </a:r>
          </a:p>
        </p:txBody>
      </p:sp>
      <p:sp>
        <p:nvSpPr>
          <p:cNvPr id="10" name="">
            <a:extLst xmlns:a="http://schemas.openxmlformats.org/drawingml/2006/main">
              <a:ext uri="{FF2B5EF4-FFF2-40B4-BE49-F238E27FC236}">
                <a16:creationId xmlns:a16="http://schemas.microsoft.com/office/drawing/2014/main" id="{33ABA3E7-6951-4472-B19C-932E17B10DD7}"/>
              </a:ext>
            </a:extLst>
          </p:cNvPr>
          <p:cNvSpPr>
            <a:spLocks xmlns:a="http://schemas.openxmlformats.org/drawingml/2006/main" noGrp="1"/>
          </p:cNvSpPr>
          <p:nvPr/>
        </p:nvSpPr>
        <p:spPr>
          <a:xfrm xmlns:a="http://schemas.openxmlformats.org/drawingml/2006/main">
            <a:off x="7239000" y="3990975"/>
            <a:ext cx="266700" cy="266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CE6317-1FA3-443F-AFF7-D1AF0B59F3EF}"/>
              </a:ext>
            </a:extLst>
          </p:cNvPr>
          <p:cNvSpPr>
            <a:spLocks xmlns:a="http://schemas.openxmlformats.org/drawingml/2006/main" noGrp="1"/>
          </p:cNvSpPr>
          <p:nvPr/>
        </p:nvSpPr>
        <p:spPr>
          <a:xfrm xmlns:a="http://schemas.openxmlformats.org/drawingml/2006/main">
            <a:off x="7239000" y="39719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FFFF"/>
                </a:solidFill>
              </a:defRPr>
            </a:pPr>
            <a:r>
              <a:rPr sz="1350" b="1">
                <a:solidFill>
                  <a:srgbClr val="FFFFFF"/>
                </a:solidFill>
              </a:rPr>
              <a:t>✓</a:t>
            </a:r>
          </a:p>
        </p:txBody>
      </p:sp>
      <p:sp>
        <p:nvSpPr>
          <p:cNvPr id="12" name="">
            <a:extLst xmlns:a="http://schemas.openxmlformats.org/drawingml/2006/main">
              <a:ext uri="{FF2B5EF4-FFF2-40B4-BE49-F238E27FC236}">
                <a16:creationId xmlns:a16="http://schemas.microsoft.com/office/drawing/2014/main" id="{89C36AEC-21DA-4293-8DAE-16CF288A6798}"/>
              </a:ext>
            </a:extLst>
          </p:cNvPr>
          <p:cNvSpPr>
            <a:spLocks xmlns:a="http://schemas.openxmlformats.org/drawingml/2006/main" noGrp="1"/>
          </p:cNvSpPr>
          <p:nvPr/>
        </p:nvSpPr>
        <p:spPr>
          <a:xfrm xmlns:a="http://schemas.openxmlformats.org/drawingml/2006/main">
            <a:off x="7715250" y="39243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Draft schedules within existing payroll</a:t>
            </a:r>
          </a:p>
        </p:txBody>
      </p:sp>
      <p:sp>
        <p:nvSpPr>
          <p:cNvPr id="13" name="">
            <a:extLst xmlns:a="http://schemas.openxmlformats.org/drawingml/2006/main">
              <a:ext uri="{FF2B5EF4-FFF2-40B4-BE49-F238E27FC236}">
                <a16:creationId xmlns:a16="http://schemas.microsoft.com/office/drawing/2014/main" id="{2AE23802-259E-4158-8ECA-6B163C3112E0}"/>
              </a:ext>
            </a:extLst>
          </p:cNvPr>
          <p:cNvSpPr>
            <a:spLocks xmlns:a="http://schemas.openxmlformats.org/drawingml/2006/main" noGrp="1"/>
          </p:cNvSpPr>
          <p:nvPr/>
        </p:nvSpPr>
        <p:spPr>
          <a:xfrm xmlns:a="http://schemas.openxmlformats.org/drawingml/2006/main">
            <a:off x="7239000" y="4619625"/>
            <a:ext cx="266700" cy="266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5B8CB6-C971-4F56-8617-7AFAD5FCF486}"/>
              </a:ext>
            </a:extLst>
          </p:cNvPr>
          <p:cNvSpPr>
            <a:spLocks xmlns:a="http://schemas.openxmlformats.org/drawingml/2006/main" noGrp="1"/>
          </p:cNvSpPr>
          <p:nvPr/>
        </p:nvSpPr>
        <p:spPr>
          <a:xfrm xmlns:a="http://schemas.openxmlformats.org/drawingml/2006/main">
            <a:off x="7239000" y="46005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FFFF"/>
                </a:solidFill>
              </a:defRPr>
            </a:pPr>
            <a:r>
              <a:rPr sz="1350" b="1">
                <a:solidFill>
                  <a:srgbClr val="FFFFFF"/>
                </a:solidFill>
              </a:rPr>
              <a:t>✓</a:t>
            </a:r>
          </a:p>
        </p:txBody>
      </p:sp>
      <p:sp>
        <p:nvSpPr>
          <p:cNvPr id="15" name="">
            <a:extLst xmlns:a="http://schemas.openxmlformats.org/drawingml/2006/main">
              <a:ext uri="{FF2B5EF4-FFF2-40B4-BE49-F238E27FC236}">
                <a16:creationId xmlns:a16="http://schemas.microsoft.com/office/drawing/2014/main" id="{3FE51DA1-5660-47AA-B2D6-C724AC1EF76E}"/>
              </a:ext>
            </a:extLst>
          </p:cNvPr>
          <p:cNvSpPr>
            <a:spLocks xmlns:a="http://schemas.openxmlformats.org/drawingml/2006/main" noGrp="1"/>
          </p:cNvSpPr>
          <p:nvPr/>
        </p:nvSpPr>
        <p:spPr>
          <a:xfrm xmlns:a="http://schemas.openxmlformats.org/drawingml/2006/main">
            <a:off x="7715250" y="45529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Track wait time, conversion, and call-outs</a:t>
            </a:r>
          </a:p>
        </p:txBody>
      </p:sp>
      <p:sp>
        <p:nvSpPr>
          <p:cNvPr id="16" name="">
            <a:extLst xmlns:a="http://schemas.openxmlformats.org/drawingml/2006/main">
              <a:ext uri="{FF2B5EF4-FFF2-40B4-BE49-F238E27FC236}">
                <a16:creationId xmlns:a16="http://schemas.microsoft.com/office/drawing/2014/main" id="{DEF77126-251F-484A-940C-EA8CB1C92286}"/>
              </a:ext>
            </a:extLst>
          </p:cNvPr>
          <p:cNvSpPr>
            <a:spLocks xmlns:a="http://schemas.openxmlformats.org/drawingml/2006/main" noGrp="1"/>
          </p:cNvSpPr>
          <p:nvPr/>
        </p:nvSpPr>
        <p:spPr>
          <a:xfrm xmlns:a="http://schemas.openxmlformats.org/drawingml/2006/main">
            <a:off x="7239000" y="5248275"/>
            <a:ext cx="266700" cy="266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F82F2F5-E670-4BE0-9D0D-C2E6BABDA646}"/>
              </a:ext>
            </a:extLst>
          </p:cNvPr>
          <p:cNvSpPr>
            <a:spLocks xmlns:a="http://schemas.openxmlformats.org/drawingml/2006/main" noGrp="1"/>
          </p:cNvSpPr>
          <p:nvPr/>
        </p:nvSpPr>
        <p:spPr>
          <a:xfrm xmlns:a="http://schemas.openxmlformats.org/drawingml/2006/main">
            <a:off x="7239000" y="522922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FFFF"/>
                </a:solidFill>
              </a:defRPr>
            </a:pPr>
            <a:r>
              <a:rPr sz="1350" b="1">
                <a:solidFill>
                  <a:srgbClr val="FFFFFF"/>
                </a:solidFill>
              </a:rPr>
              <a:t>✓</a:t>
            </a:r>
          </a:p>
        </p:txBody>
      </p:sp>
      <p:sp>
        <p:nvSpPr>
          <p:cNvPr id="18" name="">
            <a:extLst xmlns:a="http://schemas.openxmlformats.org/drawingml/2006/main">
              <a:ext uri="{FF2B5EF4-FFF2-40B4-BE49-F238E27FC236}">
                <a16:creationId xmlns:a16="http://schemas.microsoft.com/office/drawing/2014/main" id="{64C0D574-D004-43F3-96F8-7A8F639341B0}"/>
              </a:ext>
            </a:extLst>
          </p:cNvPr>
          <p:cNvSpPr>
            <a:spLocks xmlns:a="http://schemas.openxmlformats.org/drawingml/2006/main" noGrp="1"/>
          </p:cNvSpPr>
          <p:nvPr/>
        </p:nvSpPr>
        <p:spPr>
          <a:xfrm xmlns:a="http://schemas.openxmlformats.org/drawingml/2006/main">
            <a:off x="7715250" y="51816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00000"/>
                </a:solidFill>
              </a:defRPr>
            </a:pPr>
            <a:r>
              <a:rPr sz="1500">
                <a:solidFill>
                  <a:srgbClr val="000000"/>
                </a:solidFill>
              </a:rPr>
              <a:t>Expand only after finance and field approval</a:t>
            </a:r>
          </a:p>
        </p:txBody>
      </p:sp>
      <p:sp>
        <p:nvSpPr>
          <p:cNvPr id="19" name="">
            <a:extLst xmlns:a="http://schemas.openxmlformats.org/drawingml/2006/main">
              <a:ext uri="{FF2B5EF4-FFF2-40B4-BE49-F238E27FC236}">
                <a16:creationId xmlns:a16="http://schemas.microsoft.com/office/drawing/2014/main" id="{6A67836C-B989-4F34-9058-9DA672948203}"/>
              </a:ext>
            </a:extLst>
          </p:cNvPr>
          <p:cNvSpPr>
            <a:spLocks xmlns:a="http://schemas.openxmlformats.org/drawingml/2006/main" noGrp="1"/>
          </p:cNvSpPr>
          <p:nvPr/>
        </p:nvSpPr>
        <p:spPr>
          <a:xfrm xmlns:a="http://schemas.openxmlformats.org/drawingml/2006/main">
            <a:off x="400050" y="63055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67085"/>
                </a:solidFill>
              </a:defRPr>
            </a:pPr>
            <a:r>
              <a:rPr sz="900">
                <a:solidFill>
                  <a:srgbClr val="667085"/>
                </a:solidFill>
              </a:rPr>
              <a:t>CEDAR &amp; FINCH RETAIL · CORPORATE OPERATIONS</a:t>
            </a:r>
          </a:p>
        </p:txBody>
      </p:sp>
      <p:sp>
        <p:nvSpPr>
          <p:cNvPr id="20" name="">
            <a:extLst xmlns:a="http://schemas.openxmlformats.org/drawingml/2006/main">
              <a:ext uri="{FF2B5EF4-FFF2-40B4-BE49-F238E27FC236}">
                <a16:creationId xmlns:a16="http://schemas.microsoft.com/office/drawing/2014/main" id="{1F63050F-D02B-4193-807B-050E687B6F5C}"/>
              </a:ext>
            </a:extLst>
          </p:cNvPr>
          <p:cNvSpPr>
            <a:spLocks xmlns:a="http://schemas.openxmlformats.org/drawingml/2006/main" noGrp="1"/>
          </p:cNvSpPr>
          <p:nvPr/>
        </p:nvSpPr>
        <p:spPr>
          <a:xfrm xmlns:a="http://schemas.openxmlformats.org/drawingml/2006/main">
            <a:off x="11277600" y="63055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67085"/>
                </a:solidFill>
              </a:defRPr>
            </a:pPr>
            <a:r>
              <a:rPr sz="900">
                <a:solidFill>
                  <a:srgbClr val="667085"/>
                </a:solidFill>
              </a:rPr>
              <a:t>3</a:t>
            </a:r>
          </a:p>
        </p:txBody>
      </p:sp>
    </p:spTree>
    <p:extLst>
      <p:ext uri="{BB962C8B-B14F-4D97-AF65-F5344CB8AC3E}">
        <p14:creationId xmlns:p14="http://schemas.microsoft.com/office/powerpoint/2010/main" val="1106621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2026-08-17T01:09:17.6740000Z</dcterms:created>
  <dcterms:modified xsi:type="dcterms:W3CDTF">2026-08-17T01:09:17.6740000Z</dcterms:modified>
</coreProperties>
</file>